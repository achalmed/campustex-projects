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</a:t>
            </a: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estilo de título del patrón</a:t>
            </a:r>
            <a:endParaRPr b="0" lang="es-PE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F7A494-1F9A-48ED-A8AE-6A013A380313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P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P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45FE3F-BEF4-4B58-8EA0-96D2537F72C9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3CE09D-EFCB-4105-9778-D6073E29546E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B6F473-D4DF-4D77-A638-52E3DAAD3E96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CBA3D5-4696-4681-9EE3-AD3A10A11530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3EDF11-268D-445B-8ECA-2337718391B6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F59A4C-956C-46B5-8454-70FC383A840E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9C6BC0-1E99-483B-9FD6-219B5FA6DFA1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43AFC7-8737-4381-BB32-AB30C8F3104B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P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P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P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05A62-0E76-48D0-8097-C15C9CDD9355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P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P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P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P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PE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P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P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9BF55A-0419-4653-8B5E-1EB679B3DF0E}" type="slidenum">
              <a:rPr b="0" lang="es-P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P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nip Single Corner Rectangle 2"/>
          <p:cNvSpPr/>
          <p:nvPr/>
        </p:nvSpPr>
        <p:spPr>
          <a:xfrm>
            <a:off x="3573000" y="3258360"/>
            <a:ext cx="6273000" cy="1037520"/>
          </a:xfrm>
          <a:prstGeom prst="snip1Rect">
            <a:avLst>
              <a:gd name="adj" fmla="val 16667"/>
            </a:avLst>
          </a:prstGeom>
          <a:solidFill>
            <a:srgbClr val="e76517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s-PE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Adobe Fan Heiti Std B"/>
              </a:rPr>
              <a:t>CUESTIONARIO</a:t>
            </a:r>
            <a:endParaRPr b="0" lang="es-P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adroTexto 10"/>
          <p:cNvSpPr/>
          <p:nvPr/>
        </p:nvSpPr>
        <p:spPr>
          <a:xfrm>
            <a:off x="632880" y="3335760"/>
            <a:ext cx="99273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¿Cuál es su historia de la empresa?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uadroTexto 12"/>
          <p:cNvSpPr/>
          <p:nvPr/>
        </p:nvSpPr>
        <p:spPr>
          <a:xfrm>
            <a:off x="707400" y="127332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Conociendo su Empresa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adroTexto 8"/>
          <p:cNvSpPr/>
          <p:nvPr/>
        </p:nvSpPr>
        <p:spPr>
          <a:xfrm>
            <a:off x="707400" y="2254320"/>
            <a:ext cx="992736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es microempresa, pequeña, mediana o grande?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uadroTexto 10"/>
          <p:cNvSpPr/>
          <p:nvPr/>
        </p:nvSpPr>
        <p:spPr>
          <a:xfrm>
            <a:off x="707400" y="4104000"/>
            <a:ext cx="992736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¿Cuál es </a:t>
            </a: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el número de trabajadores en planilla y/o eventuales de su empresa</a:t>
            </a: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uadroTexto 12"/>
          <p:cNvSpPr/>
          <p:nvPr/>
        </p:nvSpPr>
        <p:spPr>
          <a:xfrm>
            <a:off x="707400" y="127332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Conociendo la Empresa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adroTexto 9"/>
          <p:cNvSpPr/>
          <p:nvPr/>
        </p:nvSpPr>
        <p:spPr>
          <a:xfrm>
            <a:off x="3767400" y="2148120"/>
            <a:ext cx="4359240" cy="15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Productiva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adroTexto 12"/>
          <p:cNvSpPr/>
          <p:nvPr/>
        </p:nvSpPr>
        <p:spPr>
          <a:xfrm>
            <a:off x="726840" y="126108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Gestión Productiva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CuadroTexto 2"/>
          <p:cNvSpPr/>
          <p:nvPr/>
        </p:nvSpPr>
        <p:spPr>
          <a:xfrm>
            <a:off x="400680" y="2877840"/>
            <a:ext cx="11097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¿Produce todos los productos que vende en el mercado?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uadroTexto 5"/>
          <p:cNvSpPr/>
          <p:nvPr/>
        </p:nvSpPr>
        <p:spPr>
          <a:xfrm>
            <a:off x="388440" y="4701960"/>
            <a:ext cx="11796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¿Vende directamente su producción en el mercado nacional?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uadroTexto 6"/>
          <p:cNvSpPr/>
          <p:nvPr/>
        </p:nvSpPr>
        <p:spPr>
          <a:xfrm>
            <a:off x="400680" y="2052000"/>
            <a:ext cx="11478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¿Qué productos produce ? ¿Cuánto en volumen y valor? 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uadroTexto 13"/>
          <p:cNvSpPr/>
          <p:nvPr/>
        </p:nvSpPr>
        <p:spPr>
          <a:xfrm>
            <a:off x="388440" y="3745080"/>
            <a:ext cx="11097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¿Tiene una planta de Proceso, Almacén y Transporte?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uadroTexto 14"/>
          <p:cNvSpPr/>
          <p:nvPr/>
        </p:nvSpPr>
        <p:spPr>
          <a:xfrm>
            <a:off x="400680" y="5596920"/>
            <a:ext cx="11671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¿Actualmente se comercializa en el mercado internacional? 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10"/>
          <p:cNvSpPr/>
          <p:nvPr/>
        </p:nvSpPr>
        <p:spPr>
          <a:xfrm>
            <a:off x="487800" y="2628360"/>
            <a:ext cx="11242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¿En caso, sea de terceros,</a:t>
            </a:r>
            <a:r>
              <a:rPr b="1" lang="es-MX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 tiene proveedores calificados 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uadroTexto 12"/>
          <p:cNvSpPr/>
          <p:nvPr/>
        </p:nvSpPr>
        <p:spPr>
          <a:xfrm>
            <a:off x="583920" y="82008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Gestión Productiva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CuadroTexto 1"/>
          <p:cNvSpPr/>
          <p:nvPr/>
        </p:nvSpPr>
        <p:spPr>
          <a:xfrm>
            <a:off x="487800" y="3454200"/>
            <a:ext cx="99273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¿Tiene un sistema de trazabilidad?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uadroTexto 7"/>
          <p:cNvSpPr/>
          <p:nvPr/>
        </p:nvSpPr>
        <p:spPr>
          <a:xfrm>
            <a:off x="396000" y="4238640"/>
            <a:ext cx="1074168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 ¿Su producto cumple con las exigencias técnicas, de calidad, envase y embalaje?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uadroTexto 11"/>
          <p:cNvSpPr/>
          <p:nvPr/>
        </p:nvSpPr>
        <p:spPr>
          <a:xfrm>
            <a:off x="547560" y="5379480"/>
            <a:ext cx="1000008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producto cumple con los requisitos básicos para iniciar el proceso de exportación?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uadroTexto 13"/>
          <p:cNvSpPr/>
          <p:nvPr/>
        </p:nvSpPr>
        <p:spPr>
          <a:xfrm>
            <a:off x="547560" y="1789920"/>
            <a:ext cx="99273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materia prima es propia/acopia/terceriza?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adroTexto 12"/>
          <p:cNvSpPr/>
          <p:nvPr/>
        </p:nvSpPr>
        <p:spPr>
          <a:xfrm>
            <a:off x="726840" y="126108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Gestión Productiva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CuadroTexto 5"/>
          <p:cNvSpPr/>
          <p:nvPr/>
        </p:nvSpPr>
        <p:spPr>
          <a:xfrm>
            <a:off x="547560" y="2086920"/>
            <a:ext cx="1026000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¿Cuenta con sistema de gestión de calidad para la producción y comercialización de sus productos?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uadroTexto 13"/>
          <p:cNvSpPr/>
          <p:nvPr/>
        </p:nvSpPr>
        <p:spPr>
          <a:xfrm>
            <a:off x="547560" y="3458880"/>
            <a:ext cx="10107000" cy="15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un portafolio de productos diversificados para cada tipo de consumidor y/o mercado internacional? 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uadroTexto 15"/>
          <p:cNvSpPr/>
          <p:nvPr/>
        </p:nvSpPr>
        <p:spPr>
          <a:xfrm>
            <a:off x="547560" y="5356800"/>
            <a:ext cx="1092132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capacidad para ampliar y duplicar su producción actual?¿Capacidad productiva?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adroTexto 12"/>
          <p:cNvSpPr/>
          <p:nvPr/>
        </p:nvSpPr>
        <p:spPr>
          <a:xfrm>
            <a:off x="726840" y="126108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Gestión Productiva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CuadroTexto 5"/>
          <p:cNvSpPr/>
          <p:nvPr/>
        </p:nvSpPr>
        <p:spPr>
          <a:xfrm>
            <a:off x="547560" y="2086920"/>
            <a:ext cx="1026000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 Tiene un catálogo de productos actualizado?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¿Comentemos un poco más del producto seleccionado? ¿Partida Arancelaria?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¿Detalles, proceso, etiquetado, logo, comercialización, etc?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adroTexto 12"/>
          <p:cNvSpPr/>
          <p:nvPr/>
        </p:nvSpPr>
        <p:spPr>
          <a:xfrm>
            <a:off x="726840" y="126108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Gestión Productiva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CuadroTexto 5"/>
          <p:cNvSpPr/>
          <p:nvPr/>
        </p:nvSpPr>
        <p:spPr>
          <a:xfrm>
            <a:off x="547560" y="2086920"/>
            <a:ext cx="10260000" cy="35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¿Tiene certificaciones vigentes o en proceso?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¿Marca registrada, nacional ó internacional?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¿En el mercado internacional, vende con marca blanca o su propia marca?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adroTexto 9"/>
          <p:cNvSpPr/>
          <p:nvPr/>
        </p:nvSpPr>
        <p:spPr>
          <a:xfrm>
            <a:off x="3290400" y="2566440"/>
            <a:ext cx="6115680" cy="15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Logística Exportadora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adroTexto 12"/>
          <p:cNvSpPr/>
          <p:nvPr/>
        </p:nvSpPr>
        <p:spPr>
          <a:xfrm>
            <a:off x="726840" y="126108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Logística Exportadora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CuadroTexto 2"/>
          <p:cNvSpPr/>
          <p:nvPr/>
        </p:nvSpPr>
        <p:spPr>
          <a:xfrm>
            <a:off x="547560" y="2086920"/>
            <a:ext cx="11008800" cy="41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¿Emplea la terminología utilizada en el comercio exterior para la producción y exportación?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¿Conoce todos los procedimientos y tiempos logísticos requeridos para acceder al mercado destino?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¿Cuenta con una estructura de costos de exportación detallada y unitarizada?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¿Identifica los distintos canales de distribución existentes para sus productos o servicios en el mercado internacional?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Logística Exportadora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CuadroTexto 5"/>
          <p:cNvSpPr/>
          <p:nvPr/>
        </p:nvSpPr>
        <p:spPr>
          <a:xfrm>
            <a:off x="547560" y="2082960"/>
            <a:ext cx="1046412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¿Implementa estrategias comerciales para posicionar sus productos o servicios en el mercado?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tiene sistematizada la gestión administrativa, productiva y comercial?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utiliza una oficina o punto de contacto comercial en el exterior?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rgbClr val="ff0000"/>
                </a:solidFill>
                <a:effectLst/>
                <a:uFillTx/>
                <a:latin typeface="Trebuchet MS"/>
                <a:ea typeface="Trebuchet MS"/>
              </a:rPr>
              <a:t>¿Ejecuta un plan de promoción comercial en el mercado destino y brinda el servicio post venta para sus clientes?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Logística Exportadora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CuadroTexto 5"/>
          <p:cNvSpPr/>
          <p:nvPr/>
        </p:nvSpPr>
        <p:spPr>
          <a:xfrm>
            <a:off x="547560" y="2082960"/>
            <a:ext cx="1046412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¿Conoce los requisitos técnicos de acceso sobre su producto 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¿Es socio de alguna institución que promueve las Exportaciones? 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adroTexto 9"/>
          <p:cNvSpPr/>
          <p:nvPr/>
        </p:nvSpPr>
        <p:spPr>
          <a:xfrm>
            <a:off x="2133000" y="2829240"/>
            <a:ext cx="7263720" cy="15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Mercados Internacionales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Mercados Internacionales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CuadroTexto 2"/>
          <p:cNvSpPr/>
          <p:nvPr/>
        </p:nvSpPr>
        <p:spPr>
          <a:xfrm>
            <a:off x="687960" y="1973880"/>
            <a:ext cx="992736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¿Conoce las diferencias en su oferta exportadora con la de otras empresas peruanas en el extranjero?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cuenta con un plan estructurado para sus actividades de promoción internacional?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¿Analizó las características y/o diferencias culturales y sociales de su mercado objetivo?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¿Realiza la empresa acciones de inteligencia para identificar oportunidades en el mercado internacional, sean perfiles o estudios de mercado?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Mercados Internacionales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CuadroTexto 2"/>
          <p:cNvSpPr/>
          <p:nvPr/>
        </p:nvSpPr>
        <p:spPr>
          <a:xfrm>
            <a:off x="687960" y="1992240"/>
            <a:ext cx="9927360" cy="50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¿Tiene acceso a bases de datos Pagadas 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equipo Profesional para la Exportación?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tiene un Departamento de Inteligencia de Mercados?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PE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</a:t>
            </a: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ha participado la empresa?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- Ferias Internacionales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- Ruedas de Negocios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- Misiones Comerciales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adroTexto 9"/>
          <p:cNvSpPr/>
          <p:nvPr/>
        </p:nvSpPr>
        <p:spPr>
          <a:xfrm>
            <a:off x="1996920" y="2459520"/>
            <a:ext cx="7263720" cy="23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Financiera y Legal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Financiera y Legal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CuadroTexto 5"/>
          <p:cNvSpPr/>
          <p:nvPr/>
        </p:nvSpPr>
        <p:spPr>
          <a:xfrm>
            <a:off x="547560" y="2082960"/>
            <a:ext cx="11339280" cy="40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0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¿Conoce todos los productos financieros del sistema bancario para el comercio internacional?</a:t>
            </a: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0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¿Tiene facilidad para conseguir financiamiento de corto plazo?</a:t>
            </a: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0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¿Evalúa los riesgos Financieros y Legales incurridos por la exportación?</a:t>
            </a: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0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¿Pertenece a un grupo de empresas que cuenten con una marca colectiva o sectorial?</a:t>
            </a: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0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¿Cuenta con un presupuesto anual para la promoción en los mercados internacionales?</a:t>
            </a: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0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¿Planea realizar inversiones en el corto plazo para desarrollar acciones en SEO, SEM o redes sociales?</a:t>
            </a: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adroTexto 9"/>
          <p:cNvSpPr/>
          <p:nvPr/>
        </p:nvSpPr>
        <p:spPr>
          <a:xfrm>
            <a:off x="1996920" y="2459520"/>
            <a:ext cx="7263720" cy="23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Internacionalización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Internacionalización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CuadroTexto 5"/>
          <p:cNvSpPr/>
          <p:nvPr/>
        </p:nvSpPr>
        <p:spPr>
          <a:xfrm>
            <a:off x="547560" y="2082960"/>
            <a:ext cx="1046412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cumple con los estándares internacionales de calidad? (Iso, BPPM, Certificaciones)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ha sido o es miembro de algún gremio, asociación o consorcios de exportación?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capacita constantemente a su personal para la gestión de exportación?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¿Cuenta con una oferta que sea reconocida por su cliente como única y diferenciada?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Internacionalización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CuadroTexto 5"/>
          <p:cNvSpPr/>
          <p:nvPr/>
        </p:nvSpPr>
        <p:spPr>
          <a:xfrm>
            <a:off x="547560" y="2082960"/>
            <a:ext cx="10464120" cy="41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¿Solicita o busca información comercial en las instituciones de apoyo a la exportación sobre las oportunidades existentes a nivel internacional?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desarrolla una estrategia para Internacionalizar sus productos o servicios?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un producto o servicio que se vende con éxito en el mercado Internacional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¿Los clientes y/o consumidores identifican su producto o servicio con el nombre de su marca?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adroTexto 9"/>
          <p:cNvSpPr/>
          <p:nvPr/>
        </p:nvSpPr>
        <p:spPr>
          <a:xfrm>
            <a:off x="1996920" y="2459520"/>
            <a:ext cx="7263720" cy="23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Digital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Digital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CuadroTexto 5"/>
          <p:cNvSpPr/>
          <p:nvPr/>
        </p:nvSpPr>
        <p:spPr>
          <a:xfrm>
            <a:off x="547560" y="2082960"/>
            <a:ext cx="1046412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un sistema de gestión de venta de sus productos para vender por internet?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¿Todo personal de la empresa conoce en forma clara el concepto del negocio Online que realiza?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expone y vende sus productos por página web, redes sociales o e-Marketplace u otra similar?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tiene un plan de marketing digital que incluya la exportación de su producto por el comercio electrónico?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Digital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CuadroTexto 5"/>
          <p:cNvSpPr/>
          <p:nvPr/>
        </p:nvSpPr>
        <p:spPr>
          <a:xfrm>
            <a:off x="547560" y="2082960"/>
            <a:ext cx="10464120" cy="41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conoce los productos y servicios disponibles en el sistema financiero para el comercio electrónico?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un sistema de gestión para analizar las tendencias del mercado Online?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un posicionamiento orgánico en los buscadores (SEO)?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cuenta con una área o dirección para la gestión digital (community manager, diseñador, entre otros)?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adroTexto 9"/>
          <p:cNvSpPr/>
          <p:nvPr/>
        </p:nvSpPr>
        <p:spPr>
          <a:xfrm>
            <a:off x="1996920" y="2459520"/>
            <a:ext cx="7263720" cy="23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Sostenibilidad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Sostenibilidad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CuadroTexto 5"/>
          <p:cNvSpPr/>
          <p:nvPr/>
        </p:nvSpPr>
        <p:spPr>
          <a:xfrm>
            <a:off x="547560" y="2082960"/>
            <a:ext cx="1046412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¿Utiliza algunas herramientas para conocer la trayectoria de sus insumos y sus productos comercializados?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evalúa los impactos ambientales de un producto, proceso o actividades comerciales?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mide y disminuye constantemente sus emisiones de los Gases de Efecto Invernadero (GEI)?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realiza actualmente una gestión eficiente y responsable el recurso hídrico?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Sostenibilidad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CuadroTexto 5"/>
          <p:cNvSpPr/>
          <p:nvPr/>
        </p:nvSpPr>
        <p:spPr>
          <a:xfrm>
            <a:off x="547560" y="2082960"/>
            <a:ext cx="10464120" cy="41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realiza acciones para mejorar su desempeño ambiental y la conservación de la biodiversidad?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utiliza mecanismos para transparentar su gestión y en sus relaciones comerciales?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gestiona ambientes seguros, equilibrados y sanos para sus miembros y para la sociedad?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se gestiona eficientemente y promueve la superación económica de sus proveedores?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adroTexto 9"/>
          <p:cNvSpPr/>
          <p:nvPr/>
        </p:nvSpPr>
        <p:spPr>
          <a:xfrm>
            <a:off x="1996920" y="2459520"/>
            <a:ext cx="7263720" cy="23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Gestión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Innovación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Innovación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CuadroTexto 5"/>
          <p:cNvSpPr/>
          <p:nvPr/>
        </p:nvSpPr>
        <p:spPr>
          <a:xfrm>
            <a:off x="547560" y="2063520"/>
            <a:ext cx="10464120" cy="41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premia la creatividad y despierta la innovación en todas sus áreas?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tiene en funcionamiento equipos para desarrollar proyectos de innovación?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¿Tenemos desarrollada una estrategia para innovar en la empresa vinculada a la estrategia general?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tiene algún sistema de medición para evaluar la efectividad de nuestros esfuerzos de innovación?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adroTexto 12"/>
          <p:cNvSpPr/>
          <p:nvPr/>
        </p:nvSpPr>
        <p:spPr>
          <a:xfrm>
            <a:off x="687960" y="114840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Innovación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CuadroTexto 5"/>
          <p:cNvSpPr/>
          <p:nvPr/>
        </p:nvSpPr>
        <p:spPr>
          <a:xfrm>
            <a:off x="547560" y="2082960"/>
            <a:ext cx="10464120" cy="41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¿La empresa tiene en funcionamiento equipos para la búsqueda de ideas y oportunidades en nuevos productos?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¿Analiza regularmente su modelo de negocio para buscar oportunidades de mejora e innovación?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ha introducido alguna innovación en los últimos dos años?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24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¿Su empresa a identificado la brecha tecnológica a superar para su producto o proceso productivo?</a:t>
            </a: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P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adroTexto 9"/>
          <p:cNvSpPr/>
          <p:nvPr/>
        </p:nvSpPr>
        <p:spPr>
          <a:xfrm>
            <a:off x="1996920" y="2459520"/>
            <a:ext cx="7263720" cy="23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 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PE" sz="4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Conocimiento de PROMPERÚ</a:t>
            </a:r>
            <a:endParaRPr b="0" lang="es-P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adroTexto 12"/>
          <p:cNvSpPr/>
          <p:nvPr/>
        </p:nvSpPr>
        <p:spPr>
          <a:xfrm>
            <a:off x="707400" y="114372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Herramientas Digitales - PROMPERÚ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CuadroTexto 11"/>
          <p:cNvSpPr/>
          <p:nvPr/>
        </p:nvSpPr>
        <p:spPr>
          <a:xfrm>
            <a:off x="446760" y="3429000"/>
            <a:ext cx="1127412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</a:t>
            </a:r>
            <a:r>
              <a:rPr b="1" lang="es-MX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Conoce las Herramientas Digitales de PROMPERU</a:t>
            </a: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? ¿Cuáles?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uadroTexto 13"/>
          <p:cNvSpPr/>
          <p:nvPr/>
        </p:nvSpPr>
        <p:spPr>
          <a:xfrm>
            <a:off x="617400" y="5129640"/>
            <a:ext cx="107222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¿Conoce el PeruMarketplace</a:t>
            </a: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? 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uadroTexto 16"/>
          <p:cNvSpPr/>
          <p:nvPr/>
        </p:nvSpPr>
        <p:spPr>
          <a:xfrm>
            <a:off x="458640" y="2221920"/>
            <a:ext cx="107222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¿Conoce el Exportemos.pe</a:t>
            </a: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?¿Qué búsqueda realizó? 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adroTexto 8"/>
          <p:cNvSpPr/>
          <p:nvPr/>
        </p:nvSpPr>
        <p:spPr>
          <a:xfrm>
            <a:off x="707400" y="2499840"/>
            <a:ext cx="992736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¿Por qué no ha llegado a Exportar al País Objetivo, mencione las principales dificultades</a:t>
            </a: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adroTexto 12"/>
          <p:cNvSpPr/>
          <p:nvPr/>
        </p:nvSpPr>
        <p:spPr>
          <a:xfrm>
            <a:off x="707400" y="1273320"/>
            <a:ext cx="9927360" cy="5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lt1"/>
                </a:solidFill>
                <a:effectLst/>
                <a:uFillTx/>
                <a:latin typeface="Trebuchet MS"/>
                <a:ea typeface="Trebuchet MS"/>
              </a:rPr>
              <a:t>Conociendo la Empresa</a:t>
            </a:r>
            <a:endParaRPr b="0" lang="es-P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uadroTexto 1"/>
          <p:cNvSpPr/>
          <p:nvPr/>
        </p:nvSpPr>
        <p:spPr>
          <a:xfrm>
            <a:off x="707400" y="4004640"/>
            <a:ext cx="992736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PE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¿Cuáles son sus principales necesidades de información</a:t>
            </a:r>
            <a:r>
              <a:rPr b="1" lang="es-ES" sz="3200" strike="noStrike" u="none">
                <a:solidFill>
                  <a:schemeClr val="accent1"/>
                </a:solidFill>
                <a:effectLst/>
                <a:uFillTx/>
                <a:latin typeface="Trebuchet MS"/>
                <a:ea typeface="Trebuchet MS"/>
              </a:rPr>
              <a:t>?</a:t>
            </a:r>
            <a:endParaRPr b="0" lang="es-P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1866</TotalTime>
  <Application>LibreOffice/25.2.2.2$Linux_X86_64 LibreOffice_project/520$Build-2</Application>
  <AppVersion>15.0000</AppVersion>
  <Words>1290</Words>
  <Paragraphs>181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2023-09-19T19:18:58Z</dcterms:created>
  <dc:creator>ANGEL NINO ROJAS BAZAN</dc:creator>
  <dc:description/>
  <dc:language>es-PE</dc:language>
  <cp:lastModifiedBy>Edison Achalma</cp:lastModifiedBy>
  <dcterms:modified xsi:type="dcterms:W3CDTF">2025-05-21T13:01:54Z</dcterms:modified>
  <cp:revision>8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33</vt:i4>
  </property>
</Properties>
</file>